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EE7BA-086A-3A05-4206-13A14E068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FF0D43-4651-E78F-059D-6A1161BE6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334FE3-E0A2-A454-5736-300E1135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1B6F25-5BDF-C63A-9D64-D812534B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CA06C5-6746-CBEE-C57A-00680AC7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124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02D86-D248-FE6C-28B4-31B8535C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B51685-F70D-2B73-806A-80153E3D2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8BEE8A-BDA5-F918-E381-722C47F5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E0257-7894-5256-DCD2-585879D0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EEF519-7094-926A-1BC2-CC9D57D9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504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1E5B6-406E-AC4F-A519-7B6602B6E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2F96D2-8C5A-0928-BC72-FB5B387BC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54C1F2-496D-9423-B70A-BA04D901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CEE0B1-F7BD-5003-BA2E-15EE63D40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4C6DA-EE2C-6640-CE7E-A8034C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05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D5FFC-462D-EA11-BCDC-3D9594D1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962A72-CAE8-19DC-53D5-025B9C717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27D1A1-07B8-DAEE-7E98-68B137916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B69B25-7612-840D-3014-EA737037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87D0BA-E71E-73F9-D440-091AFECD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9FC8BE-B346-77D2-E2FC-C99AAB8F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0887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8C819-1B69-856F-00F4-2DA2E2E5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EF11E1-07C3-2BE0-3C7F-69320FA50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FD6220-3A8E-FEB6-2745-755CC7426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7AB150-E034-26EC-7DE5-922629521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F49DD7-965B-7F1F-6B83-FB6E7BFF5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314ED4-8A4F-42D1-4AB5-FCF87558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93FB9F-719C-DD44-896B-89D6DD56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8D7698C-F599-2C2F-686D-B2728A585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105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4F98C-275B-5495-1B3B-12CD8159A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A2F15C-387E-C91B-9381-CF0131031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7A903E-C05B-7F4E-5011-6DD03605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473E09-EDC6-A843-5019-F5DECA91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130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E5C8EE8-AFCF-841B-B161-CA904399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E0AC58-886F-A9C8-6A84-33073950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71776D-A8A2-FD25-CE5F-C963E260C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842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505C8-16F9-9433-9B2C-67EC7EDF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9BA7EE-EDA8-5AD0-A30D-6FF9818A0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2CD5F8-F0D1-3E66-E969-01E5A8DFC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6CE4C1-F574-E1BB-2C56-894B7375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C99631-DFD9-B4B8-EEB1-0BD9B391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07170C-949D-1890-F5E0-309F0E5E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257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2C5DE-FD1C-1D09-5C4E-BE8A9AF12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EF344E-CC02-8AB3-74A6-73E2367F2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E5ACA4-03EE-2852-117E-DAE8F307C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D3C92B-E0E7-5E36-01B3-644AC072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4E54E-9BE3-2C71-BA9C-F929A0401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9D63C5-9BE2-6AA2-821D-640C767EA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009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A1B1C-7A74-C872-D08A-3D1C1838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248F93-ED6A-59ED-ACB7-88F8C33C6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74A872-181F-86E1-83FB-9CC0F114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A1782F-4C97-62E9-79B6-4F7EAC90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9CF36B-1307-0958-DB42-40FAEAAD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361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B6379D-3030-DF82-666A-B942734DB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AAA695-A822-BEC0-6ADB-CE2FF4A6E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942EE9-7908-7A37-50A1-166346D4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90CCC2-5A71-3E1F-EC88-CA31A7F0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EB73EB-CFC7-94B7-238E-2E94CA63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653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A394A14-A45C-473B-DB51-EB8EEDFD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E550CF-B972-CF86-DA32-2CB10EBFF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1DB739-8CA2-7FB5-9BF8-853C4D72C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24021-8434-4AB6-8A12-6D02D15E5979}" type="datetimeFigureOut">
              <a:rPr lang="es-AR" smtClean="0"/>
              <a:t>15/12/2025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D0A3E1-49A7-6AF2-C3DA-F66FADBB8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5FBEAB-BDC3-78A8-74DC-69321DB86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5614B-FB6E-46C5-AE4D-86824DEFF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3548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84171-CA44-825E-2C27-1E2707816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SCREENER DE ACCIONES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19196C-4286-8F57-3680-0B9930AE4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2064"/>
            <a:ext cx="9144000" cy="1275735"/>
          </a:xfrm>
        </p:spPr>
        <p:txBody>
          <a:bodyPr/>
          <a:lstStyle/>
          <a:p>
            <a:r>
              <a:rPr lang="es-MX" dirty="0"/>
              <a:t>Análisis de ventajas competitivas de aquellas acciones que tuvieron score perfecto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0127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E037E2-F17D-6DE7-C187-23BB0E303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787"/>
            <a:ext cx="10515600" cy="5754176"/>
          </a:xfrm>
        </p:spPr>
        <p:txBody>
          <a:bodyPr/>
          <a:lstStyle/>
          <a:p>
            <a:r>
              <a:rPr lang="es-MX" dirty="0"/>
              <a:t>Los </a:t>
            </a:r>
            <a:r>
              <a:rPr lang="es-MX" dirty="0" err="1"/>
              <a:t>screeners</a:t>
            </a:r>
            <a:r>
              <a:rPr lang="es-MX" dirty="0"/>
              <a:t> de acciones se focalizan en filtrar activos que sigan la filosofía de inversión de Warren Buffett (1), de </a:t>
            </a:r>
            <a:r>
              <a:rPr lang="es-MX" dirty="0" err="1"/>
              <a:t>Benjamin</a:t>
            </a:r>
            <a:r>
              <a:rPr lang="es-MX" dirty="0"/>
              <a:t> Graham (2), High </a:t>
            </a:r>
            <a:r>
              <a:rPr lang="es-MX" dirty="0" err="1"/>
              <a:t>Growth</a:t>
            </a:r>
            <a:r>
              <a:rPr lang="es-MX" dirty="0"/>
              <a:t> (3) y uno personalizado (4). </a:t>
            </a:r>
            <a:endParaRPr lang="es-AR" dirty="0"/>
          </a:p>
          <a:p>
            <a:r>
              <a:rPr lang="es-AR" dirty="0"/>
              <a:t>Se complementan los resultados con un análisis de ventajas competitivas para contextualizar los datos. </a:t>
            </a:r>
          </a:p>
          <a:p>
            <a:r>
              <a:rPr lang="es-AR" dirty="0"/>
              <a:t>La finalidad no es recomendar inversiones, sino desarrollar un pipeline para filtrar oportunidades de compra de acciones y compartir los resultados obtenidos.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7911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733F3-984E-417F-2FDD-F5093C9E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NEWMONT CORPORATION (NEM)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EB01B1-F601-D6C0-BDFD-924863588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342" y="365125"/>
            <a:ext cx="2861187" cy="1325145"/>
          </a:xfrm>
          <a:prstGeom prst="rect">
            <a:avLst/>
          </a:prstGeom>
        </p:spPr>
      </p:pic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D2909474-B13F-E1E1-9C34-1FB4EDD094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767262"/>
              </p:ext>
            </p:extLst>
          </p:nvPr>
        </p:nvGraphicFramePr>
        <p:xfrm>
          <a:off x="838200" y="2316480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329">
                  <a:extLst>
                    <a:ext uri="{9D8B030D-6E8A-4147-A177-3AD203B41FA5}">
                      <a16:colId xmlns:a16="http://schemas.microsoft.com/office/drawing/2014/main" val="1324826820"/>
                    </a:ext>
                  </a:extLst>
                </a:gridCol>
                <a:gridCol w="3542069">
                  <a:extLst>
                    <a:ext uri="{9D8B030D-6E8A-4147-A177-3AD203B41FA5}">
                      <a16:colId xmlns:a16="http://schemas.microsoft.com/office/drawing/2014/main" val="12559828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28379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Atributo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Nivel Actual del </a:t>
                      </a:r>
                      <a:r>
                        <a:rPr lang="es-MX" dirty="0" err="1"/>
                        <a:t>Moat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Tendencia Futura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7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Red de Usuarios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🔴 Inexistente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1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Switching</a:t>
                      </a:r>
                      <a:r>
                        <a:rPr lang="es-MX" b="1" dirty="0"/>
                        <a:t> </a:t>
                      </a:r>
                      <a:r>
                        <a:rPr lang="es-MX" b="1" dirty="0" err="1"/>
                        <a:t>Costs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🔴 Inexistente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5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Intangibles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4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Ventajas de Costo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3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Counter-positioning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🔴 Inexistente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74010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728C8108-899B-9F72-5E3E-3BDF0D1A66E2}"/>
              </a:ext>
            </a:extLst>
          </p:cNvPr>
          <p:cNvSpPr txBox="1"/>
          <p:nvPr/>
        </p:nvSpPr>
        <p:spPr>
          <a:xfrm>
            <a:off x="3588774" y="4935794"/>
            <a:ext cx="4945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Screener</a:t>
            </a:r>
            <a:r>
              <a:rPr lang="es-MX" dirty="0"/>
              <a:t> 1: Puntaje perfecto </a:t>
            </a:r>
          </a:p>
          <a:p>
            <a:r>
              <a:rPr lang="es-MX" dirty="0" err="1"/>
              <a:t>Screener</a:t>
            </a:r>
            <a:r>
              <a:rPr lang="es-MX" dirty="0"/>
              <a:t> 2: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3: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4: Fuera del top 50</a:t>
            </a:r>
          </a:p>
        </p:txBody>
      </p:sp>
    </p:spTree>
    <p:extLst>
      <p:ext uri="{BB962C8B-B14F-4D97-AF65-F5344CB8AC3E}">
        <p14:creationId xmlns:p14="http://schemas.microsoft.com/office/powerpoint/2010/main" val="103054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91CC0-963D-5A16-7DBE-21D64424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TAIWAN SEMICONDUCTORS (TSM) </a:t>
            </a:r>
            <a:endParaRPr lang="es-AR" dirty="0"/>
          </a:p>
        </p:txBody>
      </p:sp>
      <p:graphicFrame>
        <p:nvGraphicFramePr>
          <p:cNvPr id="4" name="Marcador de contenido 7">
            <a:extLst>
              <a:ext uri="{FF2B5EF4-FFF2-40B4-BE49-F238E27FC236}">
                <a16:creationId xmlns:a16="http://schemas.microsoft.com/office/drawing/2014/main" id="{E2CD2CDD-8FA9-7FAD-7BC5-37C0E44BCE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2319176"/>
              </p:ext>
            </p:extLst>
          </p:nvPr>
        </p:nvGraphicFramePr>
        <p:xfrm>
          <a:off x="838202" y="2316480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329">
                  <a:extLst>
                    <a:ext uri="{9D8B030D-6E8A-4147-A177-3AD203B41FA5}">
                      <a16:colId xmlns:a16="http://schemas.microsoft.com/office/drawing/2014/main" val="1324826820"/>
                    </a:ext>
                  </a:extLst>
                </a:gridCol>
                <a:gridCol w="3542069">
                  <a:extLst>
                    <a:ext uri="{9D8B030D-6E8A-4147-A177-3AD203B41FA5}">
                      <a16:colId xmlns:a16="http://schemas.microsoft.com/office/drawing/2014/main" val="12559828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28379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Atributo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Nivel Actual del </a:t>
                      </a:r>
                      <a:r>
                        <a:rPr lang="es-MX" dirty="0" err="1"/>
                        <a:t>Moat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Tendencia Futura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7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Red de Usuarios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1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Switching</a:t>
                      </a:r>
                      <a:r>
                        <a:rPr lang="es-MX" b="1" dirty="0"/>
                        <a:t> </a:t>
                      </a:r>
                      <a:r>
                        <a:rPr lang="es-MX" b="1" dirty="0" err="1"/>
                        <a:t>Costs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5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Intangibles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4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Ventajas de Costo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3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Counter-positioning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🔴 Inexistente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74010"/>
                  </a:ext>
                </a:extLst>
              </a:tr>
            </a:tbl>
          </a:graphicData>
        </a:graphic>
      </p:graphicFrame>
      <p:pic>
        <p:nvPicPr>
          <p:cNvPr id="2050" name="Picture 2" descr="Taiwan Semiconductor Manufacturing - TSM - Stock Price &amp; News | The Motley  Fool">
            <a:extLst>
              <a:ext uri="{FF2B5EF4-FFF2-40B4-BE49-F238E27FC236}">
                <a16:creationId xmlns:a16="http://schemas.microsoft.com/office/drawing/2014/main" id="{3633EB90-BC28-D2E9-4B27-B3AC38664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3161" y="237587"/>
            <a:ext cx="1580638" cy="158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77BB641-729B-A283-30CC-E64B6F3076FC}"/>
              </a:ext>
            </a:extLst>
          </p:cNvPr>
          <p:cNvSpPr txBox="1"/>
          <p:nvPr/>
        </p:nvSpPr>
        <p:spPr>
          <a:xfrm>
            <a:off x="3588774" y="4935794"/>
            <a:ext cx="4945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Screener</a:t>
            </a:r>
            <a:r>
              <a:rPr lang="es-MX" dirty="0"/>
              <a:t> 1: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2: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3: Puntaje perfecto </a:t>
            </a:r>
          </a:p>
          <a:p>
            <a:r>
              <a:rPr lang="es-MX" dirty="0" err="1"/>
              <a:t>Screener</a:t>
            </a:r>
            <a:r>
              <a:rPr lang="es-MX" dirty="0"/>
              <a:t> 4: Puntaje perfecto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9949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10C76-A08E-16E8-ADA2-4EEC7780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E38F8-0126-B4E1-7973-2B4607B8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NVIDIA (NVDA) </a:t>
            </a:r>
            <a:endParaRPr lang="es-AR" dirty="0"/>
          </a:p>
        </p:txBody>
      </p:sp>
      <p:graphicFrame>
        <p:nvGraphicFramePr>
          <p:cNvPr id="4" name="Marcador de contenido 7">
            <a:extLst>
              <a:ext uri="{FF2B5EF4-FFF2-40B4-BE49-F238E27FC236}">
                <a16:creationId xmlns:a16="http://schemas.microsoft.com/office/drawing/2014/main" id="{7FAC171B-2B68-8062-6796-37DDDF5A14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486757"/>
              </p:ext>
            </p:extLst>
          </p:nvPr>
        </p:nvGraphicFramePr>
        <p:xfrm>
          <a:off x="838202" y="2316480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329">
                  <a:extLst>
                    <a:ext uri="{9D8B030D-6E8A-4147-A177-3AD203B41FA5}">
                      <a16:colId xmlns:a16="http://schemas.microsoft.com/office/drawing/2014/main" val="1324826820"/>
                    </a:ext>
                  </a:extLst>
                </a:gridCol>
                <a:gridCol w="3542069">
                  <a:extLst>
                    <a:ext uri="{9D8B030D-6E8A-4147-A177-3AD203B41FA5}">
                      <a16:colId xmlns:a16="http://schemas.microsoft.com/office/drawing/2014/main" val="12559828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28379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Atributo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Nivel Actual del </a:t>
                      </a:r>
                      <a:r>
                        <a:rPr lang="es-MX" dirty="0" err="1"/>
                        <a:t>Moat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Tendencia Futura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7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Red de Usuarios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1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Switching</a:t>
                      </a:r>
                      <a:r>
                        <a:rPr lang="es-MX" b="1" dirty="0"/>
                        <a:t> </a:t>
                      </a:r>
                      <a:r>
                        <a:rPr lang="es-MX" b="1" dirty="0" err="1"/>
                        <a:t>Costs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5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Intangibles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4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Ventajas de Costo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3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Counter-positioning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74010"/>
                  </a:ext>
                </a:extLst>
              </a:tr>
            </a:tbl>
          </a:graphicData>
        </a:graphic>
      </p:graphicFrame>
      <p:pic>
        <p:nvPicPr>
          <p:cNvPr id="3074" name="Picture 2" descr="NVIDIA - YouTube">
            <a:extLst>
              <a:ext uri="{FF2B5EF4-FFF2-40B4-BE49-F238E27FC236}">
                <a16:creationId xmlns:a16="http://schemas.microsoft.com/office/drawing/2014/main" id="{71329D2B-D6AF-D441-E905-E1D4A972A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6722" y="365125"/>
            <a:ext cx="1197077" cy="119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B5F5BFB-FE60-488A-B698-681D2F14CF98}"/>
              </a:ext>
            </a:extLst>
          </p:cNvPr>
          <p:cNvSpPr txBox="1"/>
          <p:nvPr/>
        </p:nvSpPr>
        <p:spPr>
          <a:xfrm>
            <a:off x="3588774" y="4935794"/>
            <a:ext cx="4945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Screener</a:t>
            </a:r>
            <a:r>
              <a:rPr lang="es-MX" dirty="0"/>
              <a:t> 1: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2: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3: Puntaje perfecto </a:t>
            </a:r>
          </a:p>
          <a:p>
            <a:r>
              <a:rPr lang="es-MX" dirty="0" err="1"/>
              <a:t>Screener</a:t>
            </a:r>
            <a:r>
              <a:rPr lang="es-MX" dirty="0"/>
              <a:t> 4: Fuera del top 50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5066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E524-1F55-5A40-FB62-62357DD5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AE977-29C1-1C9D-AB4C-CA512F15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META PLATFORMS (META) </a:t>
            </a:r>
            <a:endParaRPr lang="es-AR" dirty="0"/>
          </a:p>
        </p:txBody>
      </p:sp>
      <p:graphicFrame>
        <p:nvGraphicFramePr>
          <p:cNvPr id="4" name="Marcador de contenido 7">
            <a:extLst>
              <a:ext uri="{FF2B5EF4-FFF2-40B4-BE49-F238E27FC236}">
                <a16:creationId xmlns:a16="http://schemas.microsoft.com/office/drawing/2014/main" id="{54424B6B-6EEC-7ECE-C933-F33D3A8E46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6533940"/>
              </p:ext>
            </p:extLst>
          </p:nvPr>
        </p:nvGraphicFramePr>
        <p:xfrm>
          <a:off x="838202" y="2316480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329">
                  <a:extLst>
                    <a:ext uri="{9D8B030D-6E8A-4147-A177-3AD203B41FA5}">
                      <a16:colId xmlns:a16="http://schemas.microsoft.com/office/drawing/2014/main" val="1324826820"/>
                    </a:ext>
                  </a:extLst>
                </a:gridCol>
                <a:gridCol w="3542069">
                  <a:extLst>
                    <a:ext uri="{9D8B030D-6E8A-4147-A177-3AD203B41FA5}">
                      <a16:colId xmlns:a16="http://schemas.microsoft.com/office/drawing/2014/main" val="12559828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28379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Atributo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Nivel Actual del </a:t>
                      </a:r>
                      <a:r>
                        <a:rPr lang="es-MX" dirty="0" err="1"/>
                        <a:t>Moat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Tendencia Futura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7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Red de Usuarios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🔴 Se achica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1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Switching</a:t>
                      </a:r>
                      <a:r>
                        <a:rPr lang="es-MX" b="1" dirty="0"/>
                        <a:t> </a:t>
                      </a:r>
                      <a:r>
                        <a:rPr lang="es-MX" b="1" dirty="0" err="1"/>
                        <a:t>Costs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5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Intangibles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4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Ventajas de Costo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3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Counter-positioning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74010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F71A26A9-D970-657D-50C4-78C3B1ABE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019" y="182562"/>
            <a:ext cx="3005668" cy="169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AD7D505-B3A0-5295-7B6F-29985979BCFA}"/>
              </a:ext>
            </a:extLst>
          </p:cNvPr>
          <p:cNvSpPr txBox="1"/>
          <p:nvPr/>
        </p:nvSpPr>
        <p:spPr>
          <a:xfrm>
            <a:off x="3588774" y="4935794"/>
            <a:ext cx="4945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Screener</a:t>
            </a:r>
            <a:r>
              <a:rPr lang="es-MX" dirty="0"/>
              <a:t> 1: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2: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3: Puntaje perfecto </a:t>
            </a:r>
          </a:p>
          <a:p>
            <a:r>
              <a:rPr lang="es-MX" dirty="0" err="1"/>
              <a:t>Screener</a:t>
            </a:r>
            <a:r>
              <a:rPr lang="es-MX" dirty="0"/>
              <a:t> 4: 88,89%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73403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0CFEF-11EF-EA4F-0BD0-35860D33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35710-AC0E-739C-625B-445A6933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MERCADO LIBRE (MELI) </a:t>
            </a:r>
            <a:endParaRPr lang="es-AR" dirty="0"/>
          </a:p>
        </p:txBody>
      </p:sp>
      <p:graphicFrame>
        <p:nvGraphicFramePr>
          <p:cNvPr id="4" name="Marcador de contenido 7">
            <a:extLst>
              <a:ext uri="{FF2B5EF4-FFF2-40B4-BE49-F238E27FC236}">
                <a16:creationId xmlns:a16="http://schemas.microsoft.com/office/drawing/2014/main" id="{A02E8C82-AF1A-E899-B1EA-FB36F3C473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6560333"/>
              </p:ext>
            </p:extLst>
          </p:nvPr>
        </p:nvGraphicFramePr>
        <p:xfrm>
          <a:off x="838202" y="2316480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329">
                  <a:extLst>
                    <a:ext uri="{9D8B030D-6E8A-4147-A177-3AD203B41FA5}">
                      <a16:colId xmlns:a16="http://schemas.microsoft.com/office/drawing/2014/main" val="1324826820"/>
                    </a:ext>
                  </a:extLst>
                </a:gridCol>
                <a:gridCol w="3542069">
                  <a:extLst>
                    <a:ext uri="{9D8B030D-6E8A-4147-A177-3AD203B41FA5}">
                      <a16:colId xmlns:a16="http://schemas.microsoft.com/office/drawing/2014/main" val="12559828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28379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Atributo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Nivel Actual del </a:t>
                      </a:r>
                      <a:r>
                        <a:rPr lang="es-MX" dirty="0" err="1"/>
                        <a:t>Moat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Tendencia Futura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7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Red de Usuarios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1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Switching</a:t>
                      </a:r>
                      <a:r>
                        <a:rPr lang="es-MX" b="1" dirty="0"/>
                        <a:t> </a:t>
                      </a:r>
                      <a:r>
                        <a:rPr lang="es-MX" b="1" dirty="0" err="1"/>
                        <a:t>Costs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5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Intangibles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4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Ventajas de Costo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3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Counter-positioning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74010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E589AE3C-2EE0-3177-9F38-2F951E4358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45" b="27421"/>
          <a:stretch>
            <a:fillRect/>
          </a:stretch>
        </p:blipFill>
        <p:spPr>
          <a:xfrm>
            <a:off x="8483106" y="289468"/>
            <a:ext cx="3177952" cy="147687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1F625F0-7B7A-0797-277C-03D6FEFB958F}"/>
              </a:ext>
            </a:extLst>
          </p:cNvPr>
          <p:cNvSpPr txBox="1"/>
          <p:nvPr/>
        </p:nvSpPr>
        <p:spPr>
          <a:xfrm>
            <a:off x="3588774" y="4935794"/>
            <a:ext cx="4945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Screener</a:t>
            </a:r>
            <a:r>
              <a:rPr lang="es-MX" dirty="0"/>
              <a:t> 1: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2: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3: Puntaje perfecto </a:t>
            </a:r>
          </a:p>
          <a:p>
            <a:r>
              <a:rPr lang="es-MX" dirty="0" err="1"/>
              <a:t>Screener</a:t>
            </a:r>
            <a:r>
              <a:rPr lang="es-MX" dirty="0"/>
              <a:t> 4: Fuera del top 50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83017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D3E0-EB8B-82F2-14B5-EF50E7FC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AC5F4-18A1-4A79-3B6D-309ADEBB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BLACKROCK (BLK) </a:t>
            </a:r>
            <a:endParaRPr lang="es-AR" dirty="0"/>
          </a:p>
        </p:txBody>
      </p:sp>
      <p:graphicFrame>
        <p:nvGraphicFramePr>
          <p:cNvPr id="4" name="Marcador de contenido 7">
            <a:extLst>
              <a:ext uri="{FF2B5EF4-FFF2-40B4-BE49-F238E27FC236}">
                <a16:creationId xmlns:a16="http://schemas.microsoft.com/office/drawing/2014/main" id="{33F67C3F-331E-FFCB-B3D0-16BA2C2F4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4872920"/>
              </p:ext>
            </p:extLst>
          </p:nvPr>
        </p:nvGraphicFramePr>
        <p:xfrm>
          <a:off x="838202" y="2316480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329">
                  <a:extLst>
                    <a:ext uri="{9D8B030D-6E8A-4147-A177-3AD203B41FA5}">
                      <a16:colId xmlns:a16="http://schemas.microsoft.com/office/drawing/2014/main" val="1324826820"/>
                    </a:ext>
                  </a:extLst>
                </a:gridCol>
                <a:gridCol w="3542069">
                  <a:extLst>
                    <a:ext uri="{9D8B030D-6E8A-4147-A177-3AD203B41FA5}">
                      <a16:colId xmlns:a16="http://schemas.microsoft.com/office/drawing/2014/main" val="12559828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28379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Atributo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Nivel Actual del </a:t>
                      </a:r>
                      <a:r>
                        <a:rPr lang="es-MX" dirty="0" err="1"/>
                        <a:t>Moat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Tendencia Futura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7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Red de Usuarios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1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Switching</a:t>
                      </a:r>
                      <a:r>
                        <a:rPr lang="es-MX" b="1" dirty="0"/>
                        <a:t> </a:t>
                      </a:r>
                      <a:r>
                        <a:rPr lang="es-MX" b="1" dirty="0" err="1"/>
                        <a:t>Costs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5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Intangibles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4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Ventajas de Costo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3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Counter-positioning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7401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7214FCB-C219-8294-7C1E-8DDA5CC65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444" y="225962"/>
            <a:ext cx="2851355" cy="160388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67889FA-6105-8C52-AE27-7144B970CABF}"/>
              </a:ext>
            </a:extLst>
          </p:cNvPr>
          <p:cNvSpPr txBox="1"/>
          <p:nvPr/>
        </p:nvSpPr>
        <p:spPr>
          <a:xfrm>
            <a:off x="3588774" y="4935794"/>
            <a:ext cx="4945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Screener</a:t>
            </a:r>
            <a:r>
              <a:rPr lang="es-MX" dirty="0"/>
              <a:t> 1: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2: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3: Puntaje perfecto </a:t>
            </a:r>
          </a:p>
          <a:p>
            <a:r>
              <a:rPr lang="es-MX" dirty="0" err="1"/>
              <a:t>Screener</a:t>
            </a:r>
            <a:r>
              <a:rPr lang="es-MX" dirty="0"/>
              <a:t> 4: Puntaje perfecto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41327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16A9-FE05-73AA-8856-3273456E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78646-5591-9AD1-9D3E-5FF73F6B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ELI LILLY (LLY) </a:t>
            </a:r>
            <a:endParaRPr lang="es-AR" dirty="0"/>
          </a:p>
        </p:txBody>
      </p:sp>
      <p:graphicFrame>
        <p:nvGraphicFramePr>
          <p:cNvPr id="4" name="Marcador de contenido 7">
            <a:extLst>
              <a:ext uri="{FF2B5EF4-FFF2-40B4-BE49-F238E27FC236}">
                <a16:creationId xmlns:a16="http://schemas.microsoft.com/office/drawing/2014/main" id="{1A56B6DA-9DE1-FBE5-04CD-00CDCB95E9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255671"/>
              </p:ext>
            </p:extLst>
          </p:nvPr>
        </p:nvGraphicFramePr>
        <p:xfrm>
          <a:off x="838202" y="2316480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329">
                  <a:extLst>
                    <a:ext uri="{9D8B030D-6E8A-4147-A177-3AD203B41FA5}">
                      <a16:colId xmlns:a16="http://schemas.microsoft.com/office/drawing/2014/main" val="1324826820"/>
                    </a:ext>
                  </a:extLst>
                </a:gridCol>
                <a:gridCol w="3542069">
                  <a:extLst>
                    <a:ext uri="{9D8B030D-6E8A-4147-A177-3AD203B41FA5}">
                      <a16:colId xmlns:a16="http://schemas.microsoft.com/office/drawing/2014/main" val="12559828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28379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Atributo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Nivel Actual del </a:t>
                      </a:r>
                      <a:r>
                        <a:rPr lang="es-MX" dirty="0" err="1"/>
                        <a:t>Moat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Tendencia Futura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7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Red de Usuarios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🔴 Inexistente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14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Switching</a:t>
                      </a:r>
                      <a:r>
                        <a:rPr lang="es-MX" b="1" dirty="0"/>
                        <a:t> </a:t>
                      </a:r>
                      <a:r>
                        <a:rPr lang="es-MX" b="1" dirty="0" err="1"/>
                        <a:t>Costs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5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Intangibles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🟢 Amplio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🟢 Se amplía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4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Ventajas de Costo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3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 err="1"/>
                        <a:t>Counter-positioning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🟡 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/>
                        <a:t>🟡 Se mantiene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74010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40D3F26D-98CF-B4E8-54A6-3C139AE6D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766" y="223158"/>
            <a:ext cx="2952302" cy="160949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06BBDF9-C1BE-6534-8427-67832C5FE85A}"/>
              </a:ext>
            </a:extLst>
          </p:cNvPr>
          <p:cNvSpPr txBox="1"/>
          <p:nvPr/>
        </p:nvSpPr>
        <p:spPr>
          <a:xfrm>
            <a:off x="3588774" y="4935794"/>
            <a:ext cx="4945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Screener</a:t>
            </a:r>
            <a:r>
              <a:rPr lang="es-MX" dirty="0"/>
              <a:t> 1: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2: Fuera del top 50</a:t>
            </a:r>
          </a:p>
          <a:p>
            <a:r>
              <a:rPr lang="es-MX" dirty="0" err="1"/>
              <a:t>Screener</a:t>
            </a:r>
            <a:r>
              <a:rPr lang="es-MX" dirty="0"/>
              <a:t> 3: Puntaje perfecto </a:t>
            </a:r>
          </a:p>
          <a:p>
            <a:r>
              <a:rPr lang="es-MX" dirty="0" err="1"/>
              <a:t>Screener</a:t>
            </a:r>
            <a:r>
              <a:rPr lang="es-MX" dirty="0"/>
              <a:t> 4: Fuera del top 50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864424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616</Words>
  <Application>Microsoft Office PowerPoint</Application>
  <PresentationFormat>Panorámica</PresentationFormat>
  <Paragraphs>166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SCREENER DE ACCIONES</vt:lpstr>
      <vt:lpstr>Presentación de PowerPoint</vt:lpstr>
      <vt:lpstr>NEWMONT CORPORATION (NEM)</vt:lpstr>
      <vt:lpstr>TAIWAN SEMICONDUCTORS (TSM) </vt:lpstr>
      <vt:lpstr>NVIDIA (NVDA) </vt:lpstr>
      <vt:lpstr>META PLATFORMS (META) </vt:lpstr>
      <vt:lpstr>MERCADO LIBRE (MELI) </vt:lpstr>
      <vt:lpstr>BLACKROCK (BLK) </vt:lpstr>
      <vt:lpstr>ELI LILLY (LLY)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Mazzola</dc:creator>
  <cp:lastModifiedBy>Ian Mazzola</cp:lastModifiedBy>
  <cp:revision>1</cp:revision>
  <dcterms:created xsi:type="dcterms:W3CDTF">2025-12-15T17:35:13Z</dcterms:created>
  <dcterms:modified xsi:type="dcterms:W3CDTF">2025-12-15T18:49:27Z</dcterms:modified>
</cp:coreProperties>
</file>